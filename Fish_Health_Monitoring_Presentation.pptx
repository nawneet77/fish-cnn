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2B2B2B"/>
                </a:solidFill>
                <a:latin typeface="Calibri"/>
              </a:defRPr>
            </a:pPr>
            <a:r>
              <a:t>Smart Aquarium Fish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B4D3E"/>
                </a:solidFill>
                <a:latin typeface="Calibri"/>
              </a:defRPr>
            </a:pPr>
            <a:r>
              <a:t>Monitoring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4A4A"/>
                </a:solidFill>
                <a:latin typeface="Calibri"/>
              </a:defRPr>
            </a:pPr>
            <a:r>
              <a:t>Real-time AI-powered fish health detection with IoT aquarium 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657600"/>
            <a:ext cx="2743200" cy="381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A736B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43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B2B"/>
                </a:solidFill>
                <a:latin typeface="Calibri"/>
              </a:defRPr>
            </a:pPr>
            <a:r>
              <a:t>Nawneet Kumar  |  Sanket Vaidya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A736B"/>
                </a:solidFill>
                <a:latin typeface="Calibri"/>
              </a:defRPr>
            </a:pPr>
            <a:r>
              <a:t>Mentor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57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4E30"/>
                </a:solidFill>
                <a:latin typeface="Calibri"/>
              </a:defRPr>
            </a:pPr>
            <a:r>
              <a:t>Dr. Rishikant Rajdeepak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736B"/>
                </a:solidFill>
                <a:latin typeface="Calibri"/>
              </a:defRPr>
            </a:pPr>
            <a:r>
              <a:t>April 14, 2026  |  Final Year Project Presentation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840480"/>
            <a:ext cx="1828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9319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4D3E"/>
                </a:solidFill>
                <a:latin typeface="Calibri"/>
              </a:defRPr>
            </a:pPr>
            <a:r>
              <a:t>92.5%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4348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736B"/>
                </a:solidFill>
                <a:latin typeface="Calibri"/>
              </a:defRPr>
            </a:pPr>
            <a:r>
              <a:t>Detection 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3840480"/>
            <a:ext cx="1828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80" y="39319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4D3E"/>
                </a:solidFill>
                <a:latin typeface="Calibri"/>
              </a:defRPr>
            </a:pPr>
            <a:r>
              <a:t>95.3%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44348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736B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5120640"/>
            <a:ext cx="1828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52120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4704B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5715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736B"/>
                </a:solidFill>
                <a:latin typeface="Calibri"/>
              </a:defRPr>
            </a:pPr>
            <a:r>
              <a:t>30 FPS (GPU)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5120640"/>
            <a:ext cx="18288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521208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4E30"/>
                </a:solidFill>
                <a:latin typeface="Calibri"/>
              </a:defRPr>
            </a:pPr>
            <a:r>
              <a:t>7 Sensors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5715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736B"/>
                </a:solidFill>
                <a:latin typeface="Calibri"/>
              </a:defRPr>
            </a:pPr>
            <a:r>
              <a:t>IoT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4D3E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B2B2B"/>
                </a:solidFill>
                <a:latin typeface="Calibri"/>
              </a:defRPr>
            </a:pPr>
            <a:r>
              <a:t>Why do aquarium fish die silently?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943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4864" cy="1280160"/>
          </a:xfrm>
          <a:prstGeom prst="rect">
            <a:avLst/>
          </a:prstGeom>
          <a:solidFill>
            <a:srgbClr val="A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33333"/>
                </a:solidFill>
                <a:latin typeface="Calibri"/>
              </a:defRPr>
            </a:pPr>
            <a:r>
              <a:t>Late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Fish disease symptoms are subtle. By the time owners notice</a:t>
            </a:r>
            <a:br/>
            <a:r>
              <a:t>color changes or lethargy, the disease has often progressed</a:t>
            </a:r>
            <a:br/>
            <a:r>
              <a:t>beyond treatment.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5943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54864" cy="1280160"/>
          </a:xfrm>
          <a:prstGeom prst="rect">
            <a:avLst/>
          </a:prstGeom>
          <a:solidFill>
            <a:srgbClr val="C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704B"/>
                </a:solidFill>
                <a:latin typeface="Calibri"/>
              </a:defRPr>
            </a:pPr>
            <a:r>
              <a:t>Manual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Aquarium owners must manually check water parameters,</a:t>
            </a:r>
            <a:br/>
            <a:r>
              <a:t>observe fish behavior, and maintain feeding schedules.</a:t>
            </a:r>
            <a:br/>
            <a:r>
              <a:t>Human oversight is inconsistent and error-prone.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63440"/>
            <a:ext cx="5943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663440"/>
            <a:ext cx="54864" cy="12801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8860B"/>
                </a:solidFill>
                <a:latin typeface="Calibri"/>
              </a:defRPr>
            </a:pPr>
            <a:r>
              <a:t>No Early Warning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Calibri"/>
              </a:defRPr>
            </a:pPr>
            <a:r>
              <a:t>Behavioral changes (swimming patterns, isolation, surface</a:t>
            </a:r>
            <a:br/>
            <a:r>
              <a:t>gasping) precede visible symptoms by 4-5 days, but humans</a:t>
            </a:r>
            <a:br/>
            <a:r>
              <a:t>cannot track individual fish behavior 24/7.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1737360"/>
            <a:ext cx="45720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0" y="1737360"/>
            <a:ext cx="4572000" cy="54864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D3E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377440"/>
            <a:ext cx="4023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4A4A4A"/>
                </a:solidFill>
                <a:latin typeface="Calibri"/>
              </a:defRPr>
            </a:pPr>
            <a:r>
              <a:t>YOLOv8 CNN trained on fish tank footage for real-time detection (92.5% mAP50)</a:t>
            </a:r>
          </a:p>
          <a:p>
            <a:pPr>
              <a:spcAft>
                <a:spcPts val="1000"/>
              </a:spcAft>
              <a:defRPr sz="1200">
                <a:solidFill>
                  <a:srgbClr val="4A4A4A"/>
                </a:solidFill>
                <a:latin typeface="Calibri"/>
              </a:defRPr>
            </a:pPr>
            <a:r>
              <a:t>Per-fish adaptive baselines using Welford's algorithm — each fish compared to its OWN normal</a:t>
            </a:r>
          </a:p>
          <a:p>
            <a:pPr>
              <a:spcAft>
                <a:spcPts val="1000"/>
              </a:spcAft>
              <a:defRPr sz="1200">
                <a:solidFill>
                  <a:srgbClr val="4A4A4A"/>
                </a:solidFill>
                <a:latin typeface="Calibri"/>
              </a:defRPr>
            </a:pPr>
            <a:r>
              <a:t>Z-score anomaly detection across 9 health indicators (behavioral + visual)</a:t>
            </a:r>
          </a:p>
          <a:p>
            <a:pPr>
              <a:spcAft>
                <a:spcPts val="1000"/>
              </a:spcAft>
              <a:defRPr sz="1200">
                <a:solidFill>
                  <a:srgbClr val="4A4A4A"/>
                </a:solidFill>
                <a:latin typeface="Calibri"/>
              </a:defRPr>
            </a:pPr>
            <a:r>
              <a:t>ESP32-based IoT system with 7 sensors for automated water quality monitoring</a:t>
            </a:r>
          </a:p>
          <a:p>
            <a:pPr>
              <a:spcAft>
                <a:spcPts val="1000"/>
              </a:spcAft>
              <a:defRPr sz="1200">
                <a:solidFill>
                  <a:srgbClr val="4A4A4A"/>
                </a:solidFill>
                <a:latin typeface="Calibri"/>
              </a:defRPr>
            </a:pPr>
            <a:r>
              <a:t>Automated feeding, heating, lighting, and aeration based on sensor data and schedules</a:t>
            </a:r>
          </a:p>
          <a:p>
            <a:pPr>
              <a:spcAft>
                <a:spcPts val="1000"/>
              </a:spcAft>
              <a:defRPr sz="1200">
                <a:solidFill>
                  <a:srgbClr val="4A4A4A"/>
                </a:solidFill>
                <a:latin typeface="Calibri"/>
              </a:defRPr>
            </a:pPr>
            <a:r>
              <a:t>Live web dashboard with health scores, alerts, and tuning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4D3E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B2B2B"/>
                </a:solidFill>
                <a:latin typeface="Calibri"/>
              </a:defRPr>
            </a:pPr>
            <a:r>
              <a:t>AI Pipeline — Detection to Alert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7830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783080" cy="4572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737360"/>
            <a:ext cx="548640" cy="548640"/>
          </a:xfrm>
          <a:prstGeom prst="ellipse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2B2B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B4D3E"/>
                </a:solidFill>
                <a:latin typeface="Calibri"/>
              </a:defRPr>
            </a:pPr>
            <a:r>
              <a:t>YOLOv8n CNN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4A"/>
                </a:solidFill>
                <a:latin typeface="Calibri"/>
              </a:defRPr>
            </a:pPr>
            <a:r>
              <a:t>Custom-trained on fish</a:t>
            </a:r>
            <a:br/>
            <a:r>
              <a:t>tank footage. 92.5%</a:t>
            </a:r>
            <a:br/>
            <a:r>
              <a:t>mAP50, 95.3% precision.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1554480"/>
            <a:ext cx="17830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59152" y="1554480"/>
            <a:ext cx="1783080" cy="45720"/>
          </a:xfrm>
          <a:prstGeom prst="rect">
            <a:avLst/>
          </a:prstGeom>
          <a:solidFill>
            <a:srgbClr val="6B4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53512" y="1737360"/>
            <a:ext cx="548640" cy="548640"/>
          </a:xfrm>
          <a:prstGeom prst="ellipse">
            <a:avLst/>
          </a:prstGeom>
          <a:solidFill>
            <a:srgbClr val="6B4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2" y="24231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2B2B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592" y="26974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4E30"/>
                </a:solidFill>
                <a:latin typeface="Calibri"/>
              </a:defRPr>
            </a:pPr>
            <a:r>
              <a:t>Enhanced SORT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0592" y="310896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4A"/>
                </a:solidFill>
                <a:latin typeface="Calibri"/>
              </a:defRPr>
            </a:pPr>
            <a:r>
              <a:t>Kalman filter + appearance</a:t>
            </a:r>
            <a:br/>
            <a:r>
              <a:t>Re-ID. Hungarian algorithm</a:t>
            </a:r>
            <a:br/>
            <a:r>
              <a:t>for optimal matching.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1104" y="1554480"/>
            <a:ext cx="17830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1104" y="1554480"/>
            <a:ext cx="1783080" cy="45720"/>
          </a:xfrm>
          <a:prstGeom prst="rect">
            <a:avLst/>
          </a:prstGeom>
          <a:solidFill>
            <a:srgbClr val="C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55464" y="1737360"/>
            <a:ext cx="548640" cy="548640"/>
          </a:xfrm>
          <a:prstGeom prst="ellipse">
            <a:avLst/>
          </a:prstGeom>
          <a:solidFill>
            <a:srgbClr val="C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2544" y="24231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2B2B"/>
                </a:solidFill>
                <a:latin typeface="Calibri"/>
              </a:defRPr>
            </a:pPr>
            <a:r>
              <a:t>Health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2544" y="26974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4704B"/>
                </a:solidFill>
                <a:latin typeface="Calibri"/>
              </a:defRPr>
            </a:pPr>
            <a:r>
              <a:t>Visual + Behavioral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2544" y="310896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4A"/>
                </a:solidFill>
                <a:latin typeface="Calibri"/>
              </a:defRPr>
            </a:pPr>
            <a:r>
              <a:t>5 visual features (color,</a:t>
            </a:r>
            <a:br/>
            <a:r>
              <a:t>texture, shape) + 7 behavior</a:t>
            </a:r>
            <a:br/>
            <a:r>
              <a:t>metrics (speed, pattern).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3056" y="1554480"/>
            <a:ext cx="17830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3056" y="1554480"/>
            <a:ext cx="1783080" cy="4572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57416" y="1737360"/>
            <a:ext cx="548640" cy="548640"/>
          </a:xfrm>
          <a:prstGeom prst="ellipse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24231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2B2B"/>
                </a:solidFill>
                <a:latin typeface="Calibri"/>
              </a:defRPr>
            </a:pPr>
            <a:r>
              <a:t>Adaptive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26974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B4D3E"/>
                </a:solidFill>
                <a:latin typeface="Calibri"/>
              </a:defRPr>
            </a:pPr>
            <a:r>
              <a:t>Welford's Algorithm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310896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4A"/>
                </a:solidFill>
                <a:latin typeface="Calibri"/>
              </a:defRPr>
            </a:pPr>
            <a:r>
              <a:t>Per-fish running mean/std.</a:t>
            </a:r>
            <a:br/>
            <a:r>
              <a:t>O(1) memory. Ready after</a:t>
            </a:r>
            <a:br/>
            <a:r>
              <a:t>150 samples (~25 sec).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5008" y="1554480"/>
            <a:ext cx="17830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5008" y="1554480"/>
            <a:ext cx="1783080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59368" y="1737360"/>
            <a:ext cx="548640" cy="54864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24231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2B2B"/>
                </a:solidFill>
                <a:latin typeface="Calibri"/>
              </a:defRPr>
            </a:pPr>
            <a:r>
              <a:t>Anomaly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26974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8860B"/>
                </a:solidFill>
                <a:latin typeface="Calibri"/>
              </a:defRPr>
            </a:pPr>
            <a:r>
              <a:t>Z-Score + Consensus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10896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4A"/>
                </a:solidFill>
                <a:latin typeface="Calibri"/>
              </a:defRPr>
            </a:pPr>
            <a:r>
              <a:t>9-metric weighted consensus.</a:t>
            </a:r>
            <a:br/>
            <a:r>
              <a:t>Z &gt; 2.0 = concern. 73%</a:t>
            </a:r>
            <a:br/>
            <a:r>
              <a:t>behavioral, 27% visual.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66960" y="1554480"/>
            <a:ext cx="178308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6960" y="1554480"/>
            <a:ext cx="1783080" cy="45720"/>
          </a:xfrm>
          <a:prstGeom prst="rect">
            <a:avLst/>
          </a:prstGeom>
          <a:solidFill>
            <a:srgbClr val="A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561320" y="1737360"/>
            <a:ext cx="548640" cy="548640"/>
          </a:xfrm>
          <a:prstGeom prst="ellipse">
            <a:avLst/>
          </a:prstGeom>
          <a:solidFill>
            <a:srgbClr val="A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24231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B2B2B"/>
                </a:solidFill>
                <a:latin typeface="Calibri"/>
              </a:defRPr>
            </a:pPr>
            <a:r>
              <a:t>Alert Generation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26974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33333"/>
                </a:solidFill>
                <a:latin typeface="Calibri"/>
              </a:defRPr>
            </a:pPr>
            <a:r>
              <a:t>4-Stage Filter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310896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4A"/>
                </a:solidFill>
                <a:latin typeface="Calibri"/>
              </a:defRPr>
            </a:pPr>
            <a:r>
              <a:t>Baseline wait + track</a:t>
            </a:r>
            <a:br/>
            <a:r>
              <a:t>maturity + sustained check</a:t>
            </a:r>
            <a:br/>
            <a:r>
              <a:t>+ 60s cooldown.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249424" y="2468880"/>
            <a:ext cx="109728" cy="228600"/>
          </a:xfrm>
          <a:prstGeom prst="rightArrow">
            <a:avLst/>
          </a:prstGeom>
          <a:solidFill>
            <a:srgbClr val="7A7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4151376" y="2468880"/>
            <a:ext cx="109728" cy="228600"/>
          </a:xfrm>
          <a:prstGeom prst="rightArrow">
            <a:avLst/>
          </a:prstGeom>
          <a:solidFill>
            <a:srgbClr val="7A7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6053328" y="2468880"/>
            <a:ext cx="109728" cy="228600"/>
          </a:xfrm>
          <a:prstGeom prst="rightArrow">
            <a:avLst/>
          </a:prstGeom>
          <a:solidFill>
            <a:srgbClr val="7A7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7955280" y="2468880"/>
            <a:ext cx="109728" cy="228600"/>
          </a:xfrm>
          <a:prstGeom prst="rightArrow">
            <a:avLst/>
          </a:prstGeom>
          <a:solidFill>
            <a:srgbClr val="7A7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9857232" y="2468880"/>
            <a:ext cx="109728" cy="228600"/>
          </a:xfrm>
          <a:prstGeom prst="rightArrow">
            <a:avLst/>
          </a:prstGeom>
          <a:solidFill>
            <a:srgbClr val="7A7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D3E"/>
                </a:solidFill>
                <a:latin typeface="Calibri"/>
              </a:defRPr>
            </a:pPr>
            <a:r>
              <a:t>KEY ALGORITHMS &amp; TECHNIQUES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166360"/>
            <a:ext cx="2286000" cy="381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4D3E"/>
                </a:solidFill>
                <a:latin typeface="Calibri"/>
              </a:defRPr>
            </a:pPr>
            <a:r>
              <a:t>Welford's Online Algorithm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Calibri"/>
              </a:defRPr>
            </a:pPr>
            <a:r>
              <a:t>Numerically stable single-pass variance. O(1) memory per fish per metric.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4D3E"/>
                </a:solidFill>
                <a:latin typeface="Calibri"/>
              </a:defRPr>
            </a:pPr>
            <a:r>
              <a:t>Z-Score Anomaly Detection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6616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Calibri"/>
              </a:defRPr>
            </a:pPr>
            <a:r>
              <a:t>Compares each fish to its OWN baseline. Z = |current - mean| / std.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4D3E"/>
                </a:solidFill>
                <a:latin typeface="Calibri"/>
              </a:defRPr>
            </a:pPr>
            <a:r>
              <a:t>EMA Smoothing (alpha=0.15)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Calibri"/>
              </a:defRPr>
            </a:pPr>
            <a:r>
              <a:t>Exponential moving average removes noise. Responds in ~7 seconds.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4D3E"/>
                </a:solidFill>
                <a:latin typeface="Calibri"/>
              </a:defRPr>
            </a:pPr>
            <a:r>
              <a:t>Hysteresis State Machine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55778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Calibri"/>
              </a:defRPr>
            </a:pPr>
            <a:r>
              <a:t>Dead-band gaps prevent status flickering. 4 states: Healthy/Concern/Warning/Critical.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B4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4E30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B2B2B"/>
                </a:solidFill>
                <a:latin typeface="Calibri"/>
              </a:defRPr>
            </a:pPr>
            <a:r>
              <a:t>IoT Hardware — ESP32 Aquarium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4E30"/>
                </a:solidFill>
                <a:latin typeface="Calibri"/>
              </a:defRPr>
            </a:pPr>
            <a:r>
              <a:t>SENSORS (INPUT)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2286000" cy="38100"/>
          </a:xfrm>
          <a:prstGeom prst="rect">
            <a:avLst/>
          </a:prstGeom>
          <a:solidFill>
            <a:srgbClr val="6B4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029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4E30"/>
                </a:solidFill>
                <a:latin typeface="Calibri"/>
              </a:defRPr>
            </a:pPr>
            <a:r>
              <a:t>DS18B20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965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2B2B"/>
                </a:solidFill>
                <a:latin typeface="Calibri"/>
              </a:defRPr>
            </a:pPr>
            <a:r>
              <a:t>Temperature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Calibri"/>
              </a:defRPr>
            </a:pPr>
            <a:r>
              <a:t>Water temp in Celsius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9659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736B"/>
                </a:solidFill>
                <a:latin typeface="Calibri"/>
              </a:defRPr>
            </a:pPr>
            <a:r>
              <a:t>GPIO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77440"/>
            <a:ext cx="5029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4E30"/>
                </a:solidFill>
                <a:latin typeface="Calibri"/>
              </a:defRPr>
            </a:pPr>
            <a:r>
              <a:t>PH4502C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423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2B2B"/>
                </a:solidFill>
                <a:latin typeface="Calibri"/>
              </a:defRPr>
            </a:pPr>
            <a:r>
              <a:t>pH Sensor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Calibri"/>
              </a:defRPr>
            </a:pPr>
            <a:r>
              <a:t>Acidity/alkalinity (0-14)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4231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736B"/>
                </a:solidFill>
                <a:latin typeface="Calibri"/>
              </a:defRPr>
            </a:pPr>
            <a:r>
              <a:t>GPIO 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834640"/>
            <a:ext cx="5029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80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4E30"/>
                </a:solidFill>
                <a:latin typeface="Calibri"/>
              </a:defRPr>
            </a:pPr>
            <a:r>
              <a:t>SEN0189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2880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2B2B"/>
                </a:solidFill>
                <a:latin typeface="Calibri"/>
              </a:defRPr>
            </a:pPr>
            <a:r>
              <a:t>Turbidity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880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Calibri"/>
              </a:defRPr>
            </a:pPr>
            <a:r>
              <a:t>Water clarity (NTU)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8803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736B"/>
                </a:solidFill>
                <a:latin typeface="Calibri"/>
              </a:defRPr>
            </a:pPr>
            <a:r>
              <a:t>GPIO 35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291840"/>
            <a:ext cx="5029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3375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4E30"/>
                </a:solidFill>
                <a:latin typeface="Calibri"/>
              </a:defRPr>
            </a:pPr>
            <a:r>
              <a:t>TDS V1.0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337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2B2B"/>
                </a:solidFill>
                <a:latin typeface="Calibri"/>
              </a:defRPr>
            </a:pPr>
            <a:r>
              <a:t>TDS Meter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337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Calibri"/>
              </a:defRPr>
            </a:pPr>
            <a:r>
              <a:t>Dissolved solids (ppm)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3375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736B"/>
                </a:solidFill>
                <a:latin typeface="Calibri"/>
              </a:defRPr>
            </a:pPr>
            <a:r>
              <a:t>GPIO 33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749040"/>
            <a:ext cx="5029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7947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4E30"/>
                </a:solidFill>
                <a:latin typeface="Calibri"/>
              </a:defRPr>
            </a:pPr>
            <a:r>
              <a:t>DS3231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3794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2B2B"/>
                </a:solidFill>
                <a:latin typeface="Calibri"/>
              </a:defRPr>
            </a:pPr>
            <a:r>
              <a:t>RTC Clock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Calibri"/>
              </a:defRPr>
            </a:pPr>
            <a:r>
              <a:t>Time &amp; date keeping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7947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736B"/>
                </a:solidFill>
                <a:latin typeface="Calibri"/>
              </a:defRPr>
            </a:pPr>
            <a:r>
              <a:t>I2C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206240"/>
            <a:ext cx="5029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2519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4E30"/>
                </a:solidFill>
                <a:latin typeface="Calibri"/>
              </a:defRPr>
            </a:pPr>
            <a:r>
              <a:t>TTP223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4251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2B2B"/>
                </a:solidFill>
                <a:latin typeface="Calibri"/>
              </a:defRPr>
            </a:pPr>
            <a:r>
              <a:t>Touch Sensors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4251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Calibri"/>
              </a:defRPr>
            </a:pPr>
            <a:r>
              <a:t>User input (LED control)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2519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736B"/>
                </a:solidFill>
                <a:latin typeface="Calibri"/>
              </a:defRPr>
            </a:pPr>
            <a:r>
              <a:t>GPIO 23, 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663440"/>
            <a:ext cx="5029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7091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B4E30"/>
                </a:solidFill>
                <a:latin typeface="Calibri"/>
              </a:defRPr>
            </a:pPr>
            <a:r>
              <a:t>Pot.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19" y="4709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2B2B"/>
                </a:solidFill>
                <a:latin typeface="Calibri"/>
              </a:defRPr>
            </a:pPr>
            <a:r>
              <a:t>Potentiometer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Calibri"/>
              </a:defRPr>
            </a:pPr>
            <a:r>
              <a:t>LED brightness 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7091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736B"/>
                </a:solidFill>
                <a:latin typeface="Calibri"/>
              </a:defRPr>
            </a:pPr>
            <a:r>
              <a:t>GPIO 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704B"/>
                </a:solidFill>
                <a:latin typeface="Calibri"/>
              </a:defRPr>
            </a:pPr>
            <a:r>
              <a:t>ACTUATORS (OUTPUT)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1783080"/>
            <a:ext cx="2286000" cy="38100"/>
          </a:xfrm>
          <a:prstGeom prst="rect">
            <a:avLst/>
          </a:prstGeom>
          <a:solidFill>
            <a:srgbClr val="C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0" y="1920240"/>
            <a:ext cx="5029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19659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4704B"/>
                </a:solidFill>
                <a:latin typeface="Calibri"/>
              </a:defRPr>
            </a:pPr>
            <a:r>
              <a:t>Relay x2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79" y="1965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2B2B"/>
                </a:solidFill>
                <a:latin typeface="Calibri"/>
              </a:defRPr>
            </a:pPr>
            <a:r>
              <a:t>Light + Heater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Calibri"/>
              </a:defRPr>
            </a:pPr>
            <a:r>
              <a:t>Time/temp controlled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1965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736B"/>
                </a:solidFill>
                <a:latin typeface="Calibri"/>
              </a:defRPr>
            </a:pPr>
            <a:r>
              <a:t>GPIO 26, 27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2377440"/>
            <a:ext cx="5029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24231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4704B"/>
                </a:solidFill>
                <a:latin typeface="Calibri"/>
              </a:defRPr>
            </a:pPr>
            <a:r>
              <a:t>SG90 Servo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79" y="2423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2B2B"/>
                </a:solidFill>
                <a:latin typeface="Calibri"/>
              </a:defRPr>
            </a:pPr>
            <a:r>
              <a:t>Fish Feeder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Calibri"/>
              </a:defRPr>
            </a:pPr>
            <a:r>
              <a:t>Scheduled + manual feed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0" y="2423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736B"/>
                </a:solidFill>
                <a:latin typeface="Calibri"/>
              </a:defRPr>
            </a:pPr>
            <a:r>
              <a:t>GPIO 16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2834640"/>
            <a:ext cx="5029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0" y="28803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4704B"/>
                </a:solidFill>
                <a:latin typeface="Calibri"/>
              </a:defRPr>
            </a:pPr>
            <a:r>
              <a:t>Air Pump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26679" y="2880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2B2B"/>
                </a:solidFill>
                <a:latin typeface="Calibri"/>
              </a:defRPr>
            </a:pPr>
            <a:r>
              <a:t>Oxygenation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2880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Calibri"/>
              </a:defRPr>
            </a:pPr>
            <a:r>
              <a:t>Time-based aeration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9848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736B"/>
                </a:solidFill>
                <a:latin typeface="Calibri"/>
              </a:defRPr>
            </a:pPr>
            <a:r>
              <a:t>GPIO 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0" y="3291840"/>
            <a:ext cx="5029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5120" y="33375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4704B"/>
                </a:solidFill>
                <a:latin typeface="Calibri"/>
              </a:defRPr>
            </a:pPr>
            <a:r>
              <a:t>PC Fan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26679" y="3337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2B2B"/>
                </a:solidFill>
                <a:latin typeface="Calibri"/>
              </a:defRPr>
            </a:pPr>
            <a:r>
              <a:t>Cooling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61120" y="3337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Calibri"/>
              </a:defRPr>
            </a:pPr>
            <a:r>
              <a:t>Button-triggered airflow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98480" y="3337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736B"/>
                </a:solidFill>
                <a:latin typeface="Calibri"/>
              </a:defRPr>
            </a:pPr>
            <a:r>
              <a:t>GPIO 19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0" y="3749040"/>
            <a:ext cx="5029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75120" y="37947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4704B"/>
                </a:solidFill>
                <a:latin typeface="Calibri"/>
              </a:defRPr>
            </a:pPr>
            <a:r>
              <a:t>WS2812B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26679" y="3794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2B2B"/>
                </a:solidFill>
                <a:latin typeface="Calibri"/>
              </a:defRPr>
            </a:pPr>
            <a:r>
              <a:t>LED Strip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61120" y="3794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Calibri"/>
              </a:defRPr>
            </a:pPr>
            <a:r>
              <a:t>RGB effects, touch control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98480" y="3794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736B"/>
                </a:solidFill>
                <a:latin typeface="Calibri"/>
              </a:defRPr>
            </a:pPr>
            <a:r>
              <a:t>GPIO 18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0" y="4206240"/>
            <a:ext cx="502920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75120" y="42519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4704B"/>
                </a:solidFill>
                <a:latin typeface="Calibri"/>
              </a:defRPr>
            </a:pPr>
            <a:r>
              <a:t>1W LEDs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26679" y="4251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2B2B"/>
                </a:solidFill>
                <a:latin typeface="Calibri"/>
              </a:defRPr>
            </a:pPr>
            <a:r>
              <a:t>Status LEDs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20" y="4251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  <a:latin typeface="Calibri"/>
              </a:defRPr>
            </a:pPr>
            <a:r>
              <a:t>Red=feeding, Blue=servo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98480" y="4251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736B"/>
                </a:solidFill>
                <a:latin typeface="Calibri"/>
              </a:defRPr>
            </a:pPr>
            <a:r>
              <a:t>GPIO 17, 25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D3E"/>
                </a:solidFill>
                <a:latin typeface="Calibri"/>
              </a:defRPr>
            </a:pPr>
            <a:r>
              <a:t>DISPLAYS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0" y="5166360"/>
            <a:ext cx="2286000" cy="381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7512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4D3E"/>
                </a:solidFill>
                <a:latin typeface="Calibri"/>
              </a:defRPr>
            </a:pPr>
            <a:r>
              <a:t>SSD1306 (0x3C)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95360" y="5212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pH, Turbidity, TDS, Water condition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75120" y="5532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4D3E"/>
                </a:solidFill>
                <a:latin typeface="Calibri"/>
              </a:defRPr>
            </a:pPr>
            <a:r>
              <a:t>SSD1306 (0x3D)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95360" y="5532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Time, Date, Temperature, Heater status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75120" y="5852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4D3E"/>
                </a:solidFill>
                <a:latin typeface="Calibri"/>
              </a:defRPr>
            </a:pPr>
            <a:r>
              <a:t>MAX7219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95360" y="5852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Calibri"/>
              </a:defRPr>
            </a:pPr>
            <a:r>
              <a:t>Animated clock, Scrolling date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31520" y="5212080"/>
            <a:ext cx="5029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1520" y="5212080"/>
            <a:ext cx="5029200" cy="4572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4400" y="53492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D3E"/>
                </a:solidFill>
                <a:latin typeface="Calibri"/>
              </a:defRPr>
            </a:pPr>
            <a:r>
              <a:t>ESP32 WROOM — Central Controller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" y="57150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Calibri"/>
              </a:defRPr>
            </a:pPr>
            <a:r>
              <a:t>Reads all sensor data  -&gt;  Processes logic &amp; schedules  -&gt;  Controls all actuators &amp; displays</a:t>
            </a:r>
            <a:br/>
            <a:r>
              <a:t>TIP144/TIP142 transistors switch high-current loads (pump, fan, LEDs)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4D3E"/>
                </a:solidFill>
                <a:latin typeface="Calibri"/>
              </a:defRPr>
            </a:pPr>
            <a:r>
              <a:t>RESULTS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B2B2B"/>
                </a:solidFill>
                <a:latin typeface="Calibri"/>
              </a:defRPr>
            </a:pPr>
            <a:r>
              <a:t>Model Performance &amp; System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828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828800" cy="36576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4D3E"/>
                </a:solidFill>
                <a:latin typeface="Calibri"/>
              </a:defRPr>
            </a:pPr>
            <a:r>
              <a:t>92.5%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2B2B"/>
                </a:solidFill>
                <a:latin typeface="Calibri"/>
              </a:defRPr>
            </a:pPr>
            <a:r>
              <a:t>mAP50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736B"/>
                </a:solidFill>
                <a:latin typeface="Calibri"/>
              </a:defRPr>
            </a:pPr>
            <a:r>
              <a:t>Detection accuracy</a:t>
            </a:r>
            <a:br/>
            <a:r>
              <a:t>across all test frames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554480"/>
            <a:ext cx="1828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1554480"/>
            <a:ext cx="1828800" cy="36576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4D3E"/>
                </a:solidFill>
                <a:latin typeface="Calibri"/>
              </a:defRPr>
            </a:pPr>
            <a:r>
              <a:t>95.3%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2B2B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736B"/>
                </a:solidFill>
                <a:latin typeface="Calibri"/>
              </a:defRPr>
            </a:pPr>
            <a:r>
              <a:t>Very few false</a:t>
            </a:r>
            <a:br/>
            <a:r>
              <a:t>detections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1828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554480"/>
            <a:ext cx="1828800" cy="36576"/>
          </a:xfrm>
          <a:prstGeom prst="rect">
            <a:avLst/>
          </a:prstGeom>
          <a:solidFill>
            <a:srgbClr val="6B4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B4E30"/>
                </a:solidFill>
                <a:latin typeface="Calibri"/>
              </a:defRPr>
            </a:pPr>
            <a:r>
              <a:t>84.8%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2B2B"/>
                </a:solidFill>
                <a:latin typeface="Calibri"/>
              </a:defRPr>
            </a:pPr>
            <a: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736B"/>
                </a:solidFill>
                <a:latin typeface="Calibri"/>
              </a:defRPr>
            </a:pPr>
            <a:r>
              <a:t>Catches 84.8% of</a:t>
            </a:r>
            <a:br/>
            <a:r>
              <a:t>all fish in frame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554480"/>
            <a:ext cx="1828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554480"/>
            <a:ext cx="1828800" cy="36576"/>
          </a:xfrm>
          <a:prstGeom prst="rect">
            <a:avLst/>
          </a:prstGeom>
          <a:solidFill>
            <a:srgbClr val="C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4704B"/>
                </a:solidFill>
                <a:latin typeface="Calibri"/>
              </a:defRPr>
            </a:pPr>
            <a:r>
              <a:t>76.1%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2B2B"/>
                </a:solidFill>
                <a:latin typeface="Calibri"/>
              </a:defRPr>
            </a:pPr>
            <a:r>
              <a:t>mAP50-95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736B"/>
                </a:solidFill>
                <a:latin typeface="Calibri"/>
              </a:defRPr>
            </a:pPr>
            <a:r>
              <a:t>Strict multi-threshold</a:t>
            </a:r>
            <a:br/>
            <a:r>
              <a:t>accuracy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554480"/>
            <a:ext cx="1828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554480"/>
            <a:ext cx="182880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B8860B"/>
                </a:solidFill>
                <a:latin typeface="Calibri"/>
              </a:defRPr>
            </a:pPr>
            <a:r>
              <a:t>30 FPS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2B2B"/>
                </a:solidFill>
                <a:latin typeface="Calibri"/>
              </a:defRPr>
            </a:pPr>
            <a:r>
              <a:t>GPU Speed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736B"/>
                </a:solidFill>
                <a:latin typeface="Calibri"/>
              </a:defRPr>
            </a:pPr>
            <a:r>
              <a:t>Real-time inference</a:t>
            </a:r>
            <a:br/>
            <a:r>
              <a:t>on CUDA devices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1554480"/>
            <a:ext cx="1828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58400" y="1554480"/>
            <a:ext cx="1828800" cy="36576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A4A4A"/>
                </a:solidFill>
                <a:latin typeface="Calibri"/>
              </a:defRPr>
            </a:pPr>
            <a:r>
              <a:t>~6 MB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B2B2B"/>
                </a:solidFill>
                <a:latin typeface="Calibri"/>
              </a:defRPr>
            </a:pPr>
            <a:r>
              <a:t>Model Size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736B"/>
                </a:solidFill>
                <a:latin typeface="Calibri"/>
              </a:defRPr>
            </a:pPr>
            <a:r>
              <a:t>YOLOv8n nano model</a:t>
            </a:r>
            <a:br/>
            <a:r>
              <a:t>lightweight 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D3E"/>
                </a:solidFill>
                <a:latin typeface="Calibri"/>
              </a:defRPr>
            </a:pPr>
            <a:r>
              <a:t>ADAPTIVE HEALTH SCORING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520440"/>
            <a:ext cx="2286000" cy="381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6118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Per-fish baselines converge in ~25 seconds (150 samples)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Healthy fish score 70-85% (vs 45-70% with fixed thresholds)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Z-score detection catches behavioral changes 4-5 days before visible symptoms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Multi-indicator consensus: 2+ anomalous metrics needed to trigger concern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Hysteresis state machine eliminates status flickering completely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Alert latency: 5-10 seconds for genuine health concerns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704B"/>
                </a:solidFill>
                <a:latin typeface="Calibri"/>
              </a:defRPr>
            </a:pPr>
            <a:r>
              <a:t>IoT SYSTEM PERFORMANCE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3520440"/>
            <a:ext cx="2286000" cy="38100"/>
          </a:xfrm>
          <a:prstGeom prst="rect">
            <a:avLst/>
          </a:prstGeom>
          <a:solidFill>
            <a:srgbClr val="C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361188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All 7 sensors reading accurately in real-time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Automated feeding on schedule via servo motor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Temperature-controlled heater activation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Time-based lighting and aeration cycles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Dual OLED + MAX7219 displays showing live data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Touch-controlled RGB LED lighting effects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760720"/>
            <a:ext cx="10698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852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2B2B"/>
                </a:solidFill>
                <a:latin typeface="Calibri"/>
              </a:defRPr>
            </a:pPr>
            <a:r>
              <a:t>Custom model vs Generic YOLO: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5852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4D3E"/>
                </a:solidFill>
                <a:latin typeface="Calibri"/>
              </a:defRPr>
            </a:pPr>
            <a:r>
              <a:t>92.5% mAP50 (custom)  vs  30-50% mAP50 (generic)  —  No false positives on hands, faces, or decorations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4D3E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B2B2B"/>
                </a:solidFill>
                <a:latin typeface="Calibri"/>
              </a:defRPr>
            </a:pPr>
            <a:r>
              <a:t>Summary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3035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303520" cy="4572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D3E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End-to-end fish health monitoring: camera to alert in real-time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CNN-based detection (92.5% mAP50) + adaptive per-fish baselines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Statistical anomaly detection outperforms fixed thresholds significantly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Full IoT automation: feeding, heating, lighting, aeration, water monitoring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Live web dashboard with health scores, alerts, and parameter tuning</a:t>
            </a:r>
          </a:p>
          <a:p>
            <a:pPr>
              <a:spcAft>
                <a:spcPts val="6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Behavioral analysis detects illness days before visible symptoms appear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554480"/>
            <a:ext cx="53035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5303520" cy="4572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91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D3E"/>
                </a:solidFill>
                <a:latin typeface="Calibri"/>
              </a:defRPr>
            </a:pPr>
            <a:r>
              <a:t>Project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2B2B"/>
                </a:solidFill>
                <a:latin typeface="Calibri"/>
              </a:defRPr>
            </a:pPr>
            <a:r>
              <a:t>Work Completed: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4D3E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2B2B"/>
                </a:solidFill>
                <a:latin typeface="Calibri"/>
              </a:defRPr>
            </a:pPr>
            <a:r>
              <a:t>Expected Completion: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4E30"/>
                </a:solidFill>
                <a:latin typeface="Calibri"/>
              </a:defRPr>
            </a:pPr>
            <a:r>
              <a:t>May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926080"/>
            <a:ext cx="53035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926080"/>
            <a:ext cx="5303520" cy="45720"/>
          </a:xfrm>
          <a:prstGeom prst="rect">
            <a:avLst/>
          </a:prstGeom>
          <a:solidFill>
            <a:srgbClr val="C4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063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704B"/>
                </a:solidFill>
                <a:latin typeface="Calibri"/>
              </a:defRPr>
            </a:pPr>
            <a:r>
              <a:t>Remaining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3832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Hardware-software integration (ESP32 + dashboard link)</a:t>
            </a:r>
          </a:p>
          <a:p>
            <a:pPr>
              <a:spcAft>
                <a:spcPts val="5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Extended testing with multiple fish species</a:t>
            </a:r>
          </a:p>
          <a:p>
            <a:pPr>
              <a:spcAft>
                <a:spcPts val="500"/>
              </a:spcAft>
              <a:defRPr sz="1100">
                <a:solidFill>
                  <a:srgbClr val="4A4A4A"/>
                </a:solidFill>
                <a:latin typeface="Calibri"/>
              </a:defRPr>
            </a:pPr>
            <a:r>
              <a:t>Mobile app notifications for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4D3E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92040"/>
            <a:ext cx="2286000" cy="381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377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7A736B"/>
                </a:solidFill>
                <a:latin typeface="Calibri"/>
              </a:defRPr>
            </a:pPr>
            <a:r>
              <a:t>Ultralytics YOLOv8 (2023) — Real-time object detection architecture</a:t>
            </a:r>
          </a:p>
          <a:p>
            <a:pPr>
              <a:spcAft>
                <a:spcPts val="300"/>
              </a:spcAft>
              <a:defRPr sz="1000">
                <a:solidFill>
                  <a:srgbClr val="7A736B"/>
                </a:solidFill>
                <a:latin typeface="Calibri"/>
              </a:defRPr>
            </a:pPr>
            <a:r>
              <a:t>Bewley et al. (2016) — SORT: Simple Online and Realtime Tracking</a:t>
            </a:r>
          </a:p>
          <a:p>
            <a:pPr>
              <a:spcAft>
                <a:spcPts val="300"/>
              </a:spcAft>
              <a:defRPr sz="1000">
                <a:solidFill>
                  <a:srgbClr val="7A736B"/>
                </a:solidFill>
                <a:latin typeface="Calibri"/>
              </a:defRPr>
            </a:pPr>
            <a:r>
              <a:t>Welford, B.P. (1962) — Numerically stable single-pass variance computation</a:t>
            </a:r>
          </a:p>
          <a:p>
            <a:pPr>
              <a:spcAft>
                <a:spcPts val="300"/>
              </a:spcAft>
              <a:defRPr sz="1000">
                <a:solidFill>
                  <a:srgbClr val="7A736B"/>
                </a:solidFill>
                <a:latin typeface="Calibri"/>
              </a:defRPr>
            </a:pPr>
            <a:r>
              <a:t>Kalman, R.E. (1960) — Optimal state estimation for linear dynamic systems</a:t>
            </a:r>
          </a:p>
          <a:p>
            <a:pPr>
              <a:spcAft>
                <a:spcPts val="300"/>
              </a:spcAft>
              <a:defRPr sz="1000">
                <a:solidFill>
                  <a:srgbClr val="7A736B"/>
                </a:solidFill>
                <a:latin typeface="Calibri"/>
              </a:defRPr>
            </a:pPr>
            <a:r>
              <a:t>Kuhn, H.W. (1955) — The Hungarian Algorithm for assignment problems</a:t>
            </a:r>
          </a:p>
          <a:p>
            <a:pPr>
              <a:spcAft>
                <a:spcPts val="300"/>
              </a:spcAft>
              <a:defRPr sz="1000">
                <a:solidFill>
                  <a:srgbClr val="7A736B"/>
                </a:solidFill>
                <a:latin typeface="Calibri"/>
              </a:defRPr>
            </a:pPr>
            <a:r>
              <a:t>OpenCV Library — Computer vision and image processing</a:t>
            </a:r>
          </a:p>
          <a:p>
            <a:pPr>
              <a:spcAft>
                <a:spcPts val="300"/>
              </a:spcAft>
              <a:defRPr sz="1000">
                <a:solidFill>
                  <a:srgbClr val="7A736B"/>
                </a:solidFill>
                <a:latin typeface="Calibri"/>
              </a:defRPr>
            </a:pPr>
            <a:r>
              <a:t>Espressif ESP32 — IoT microcontroller platform 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4D3E"/>
                </a:solidFill>
                <a:latin typeface="Calibri"/>
              </a:defRPr>
            </a:pPr>
            <a: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